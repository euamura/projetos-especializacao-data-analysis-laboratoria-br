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f541e278ba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f541e278ba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a1db3d07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ca1db3d07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ca1db3d07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ca1db3d07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ca1db3d07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ca1db3d07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ca1db3d07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ca1db3d07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ca1db3d07d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ca1db3d07d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ca1db3d07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ca1db3d07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ca1db3d07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ca1db3d07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f559cced2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f559cced2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f559cced23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f559cced23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f559cced2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f559cced2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f559cced2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f559cced2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32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29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image" Target="../media/image21.png"/><Relationship Id="rId6" Type="http://schemas.openxmlformats.org/officeDocument/2006/relationships/image" Target="../media/image31.png"/><Relationship Id="rId7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702076" y="829750"/>
            <a:ext cx="7766100" cy="182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3F3F3"/>
                </a:solidFill>
                <a:latin typeface="Impact"/>
                <a:ea typeface="Impact"/>
                <a:cs typeface="Impact"/>
                <a:sym typeface="Impact"/>
              </a:rPr>
              <a:t>ANÁLISE DE CLIENTES POR SEGMENTAÇÃO RFM</a:t>
            </a:r>
            <a:endParaRPr>
              <a:solidFill>
                <a:srgbClr val="F3F3F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109175" y="2914800"/>
            <a:ext cx="7359000" cy="6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3F3F3"/>
                </a:solidFill>
              </a:rPr>
              <a:t>Esta apresentação analisa dados de clientes consumidores de um mercado a partir da classificação RFM e traça o perfil deles.</a:t>
            </a:r>
            <a:endParaRPr>
              <a:solidFill>
                <a:srgbClr val="F3F3F3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819375" y="2657050"/>
            <a:ext cx="77583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2796900" y="668763"/>
            <a:ext cx="3550200" cy="68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80">
                <a:solidFill>
                  <a:srgbClr val="F3F3F3"/>
                </a:solidFill>
                <a:latin typeface="Impact"/>
                <a:ea typeface="Impact"/>
                <a:cs typeface="Impact"/>
                <a:sym typeface="Impact"/>
              </a:rPr>
              <a:t>SOBRE A ANÁLISE</a:t>
            </a:r>
            <a:endParaRPr sz="3980">
              <a:solidFill>
                <a:srgbClr val="F3F3F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1017225" y="1814113"/>
            <a:ext cx="7359000" cy="6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3F3F3"/>
                </a:solidFill>
              </a:rPr>
              <a:t>Foram analisados mais de 2.000 clientes com transações nos últimos anos, tentando compreender o perfil dos compradores a partir das suas informações de cadastro e quais se destacam com relação ao consumo. Colocando como ponto de partida a análise das idades, de forma agrupada, nível de </a:t>
            </a:r>
            <a:r>
              <a:rPr lang="pt-BR" sz="1600">
                <a:solidFill>
                  <a:srgbClr val="F3F3F3"/>
                </a:solidFill>
              </a:rPr>
              <a:t>escolaridade e perfil familiar. Além de uma análise de suas classificações a partir da segmentação RFM.</a:t>
            </a:r>
            <a:endParaRPr sz="1600">
              <a:solidFill>
                <a:srgbClr val="F3F3F3"/>
              </a:solidFill>
            </a:endParaRPr>
          </a:p>
        </p:txBody>
      </p:sp>
      <p:cxnSp>
        <p:nvCxnSpPr>
          <p:cNvPr id="63" name="Google Shape;63;p14"/>
          <p:cNvCxnSpPr/>
          <p:nvPr/>
        </p:nvCxnSpPr>
        <p:spPr>
          <a:xfrm>
            <a:off x="692850" y="1521638"/>
            <a:ext cx="77583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14"/>
          <p:cNvSpPr txBox="1"/>
          <p:nvPr/>
        </p:nvSpPr>
        <p:spPr>
          <a:xfrm>
            <a:off x="11617750" y="2239900"/>
            <a:ext cx="2430000" cy="23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1463550" y="1722150"/>
            <a:ext cx="6216900" cy="84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80">
                <a:solidFill>
                  <a:srgbClr val="F3F3F3"/>
                </a:solidFill>
                <a:latin typeface="Impact"/>
                <a:ea typeface="Impact"/>
                <a:cs typeface="Impact"/>
                <a:sym typeface="Impact"/>
              </a:rPr>
              <a:t>PERFIL GERAL DOS CLIENTES</a:t>
            </a:r>
            <a:endParaRPr sz="3980">
              <a:solidFill>
                <a:srgbClr val="F3F3F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0" name="Google Shape;70;p15"/>
          <p:cNvSpPr txBox="1"/>
          <p:nvPr>
            <p:ph idx="1" type="subTitle"/>
          </p:nvPr>
        </p:nvSpPr>
        <p:spPr>
          <a:xfrm>
            <a:off x="892500" y="2949475"/>
            <a:ext cx="7359000" cy="6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3F3F3"/>
                </a:solidFill>
              </a:rPr>
              <a:t>Analisando os dados como:</a:t>
            </a:r>
            <a:endParaRPr sz="1600">
              <a:solidFill>
                <a:srgbClr val="F3F3F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3F3F3"/>
                </a:solidFill>
              </a:rPr>
              <a:t>Faixa etária; Nível de escolaridade; Número de filhos e estado civil comparados a porcentagem total de consumo.</a:t>
            </a:r>
            <a:endParaRPr sz="1600">
              <a:solidFill>
                <a:srgbClr val="F3F3F3"/>
              </a:solidFill>
            </a:endParaRPr>
          </a:p>
        </p:txBody>
      </p:sp>
      <p:cxnSp>
        <p:nvCxnSpPr>
          <p:cNvPr id="71" name="Google Shape;71;p15"/>
          <p:cNvCxnSpPr/>
          <p:nvPr/>
        </p:nvCxnSpPr>
        <p:spPr>
          <a:xfrm>
            <a:off x="692850" y="2685600"/>
            <a:ext cx="77583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5"/>
          <p:cNvSpPr txBox="1"/>
          <p:nvPr/>
        </p:nvSpPr>
        <p:spPr>
          <a:xfrm>
            <a:off x="11617750" y="2239900"/>
            <a:ext cx="2430000" cy="23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ctrTitle"/>
          </p:nvPr>
        </p:nvSpPr>
        <p:spPr>
          <a:xfrm>
            <a:off x="334075" y="245725"/>
            <a:ext cx="1091700" cy="68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80">
                <a:solidFill>
                  <a:srgbClr val="F3F3F3"/>
                </a:solidFill>
                <a:latin typeface="Impact"/>
                <a:ea typeface="Impact"/>
                <a:cs typeface="Impact"/>
                <a:sym typeface="Impact"/>
              </a:rPr>
              <a:t>IDADE</a:t>
            </a:r>
            <a:endParaRPr sz="3080">
              <a:solidFill>
                <a:srgbClr val="F3F3F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334075" y="1187050"/>
            <a:ext cx="4373400" cy="6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3F3F3"/>
                </a:solidFill>
              </a:rPr>
              <a:t>Na contagem de idade dos clientes, percebemos que a faixa de idades que mais estão mais presentes é de </a:t>
            </a:r>
            <a:r>
              <a:rPr b="1" lang="pt-BR" sz="1600">
                <a:solidFill>
                  <a:srgbClr val="F3F3F3"/>
                </a:solidFill>
              </a:rPr>
              <a:t>40-69 anos</a:t>
            </a:r>
            <a:r>
              <a:rPr lang="pt-BR" sz="1600">
                <a:solidFill>
                  <a:srgbClr val="F3F3F3"/>
                </a:solidFill>
              </a:rPr>
              <a:t>. E como maioria são responsáveis por mais de </a:t>
            </a:r>
            <a:r>
              <a:rPr b="1" lang="pt-BR" sz="1600">
                <a:solidFill>
                  <a:srgbClr val="F3F3F3"/>
                </a:solidFill>
              </a:rPr>
              <a:t>70%</a:t>
            </a:r>
            <a:r>
              <a:rPr lang="pt-BR" sz="1600">
                <a:solidFill>
                  <a:srgbClr val="F3F3F3"/>
                </a:solidFill>
              </a:rPr>
              <a:t> do total de compras.</a:t>
            </a:r>
            <a:endParaRPr sz="1600">
              <a:solidFill>
                <a:srgbClr val="F3F3F3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11617750" y="2239900"/>
            <a:ext cx="2430000" cy="23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0" name="Google Shape;80;p16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8575" y="245713"/>
            <a:ext cx="3600251" cy="224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 title="Gráfico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3025" y="2628075"/>
            <a:ext cx="3600250" cy="22761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" name="Google Shape;82;p16"/>
          <p:cNvCxnSpPr/>
          <p:nvPr/>
        </p:nvCxnSpPr>
        <p:spPr>
          <a:xfrm>
            <a:off x="-2999225" y="1004563"/>
            <a:ext cx="77583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3" name="Google Shape;8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2047875" y="1991422"/>
            <a:ext cx="6684499" cy="376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1238275" y="1299675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ctrTitle"/>
          </p:nvPr>
        </p:nvSpPr>
        <p:spPr>
          <a:xfrm>
            <a:off x="367550" y="342200"/>
            <a:ext cx="3282300" cy="68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80">
                <a:solidFill>
                  <a:srgbClr val="F3F3F3"/>
                </a:solidFill>
                <a:latin typeface="Impact"/>
                <a:ea typeface="Impact"/>
                <a:cs typeface="Impact"/>
                <a:sym typeface="Impact"/>
              </a:rPr>
              <a:t>NÍVEL DE EDUCAÇÃO</a:t>
            </a:r>
            <a:endParaRPr sz="3080">
              <a:solidFill>
                <a:srgbClr val="F3F3F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0" name="Google Shape;90;p17"/>
          <p:cNvSpPr txBox="1"/>
          <p:nvPr>
            <p:ph idx="1" type="subTitle"/>
          </p:nvPr>
        </p:nvSpPr>
        <p:spPr>
          <a:xfrm>
            <a:off x="367550" y="1380350"/>
            <a:ext cx="7836000" cy="6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3F3F3"/>
                </a:solidFill>
              </a:rPr>
              <a:t>A maioria dos clientes tem nível de educação superior ou pós-graduação, e correspondem a mais de </a:t>
            </a:r>
            <a:r>
              <a:rPr b="1" lang="pt-BR" sz="1600">
                <a:solidFill>
                  <a:srgbClr val="F3F3F3"/>
                </a:solidFill>
              </a:rPr>
              <a:t>90%</a:t>
            </a:r>
            <a:r>
              <a:rPr lang="pt-BR" sz="1600">
                <a:solidFill>
                  <a:srgbClr val="F3F3F3"/>
                </a:solidFill>
              </a:rPr>
              <a:t> do total de compra.</a:t>
            </a:r>
            <a:endParaRPr sz="1600">
              <a:solidFill>
                <a:srgbClr val="F3F3F3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11617750" y="2239900"/>
            <a:ext cx="2430000" cy="23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92" name="Google Shape;92;p17"/>
          <p:cNvCxnSpPr/>
          <p:nvPr/>
        </p:nvCxnSpPr>
        <p:spPr>
          <a:xfrm>
            <a:off x="406400" y="1024988"/>
            <a:ext cx="77583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" name="Google Shape;93;p17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400" y="2239900"/>
            <a:ext cx="3888985" cy="240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 title="Gráfico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2200" y="2239901"/>
            <a:ext cx="4052357" cy="2512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ctrTitle"/>
          </p:nvPr>
        </p:nvSpPr>
        <p:spPr>
          <a:xfrm>
            <a:off x="692850" y="227600"/>
            <a:ext cx="4091400" cy="68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80">
                <a:solidFill>
                  <a:srgbClr val="F3F3F3"/>
                </a:solidFill>
                <a:latin typeface="Impact"/>
                <a:ea typeface="Impact"/>
                <a:cs typeface="Impact"/>
                <a:sym typeface="Impact"/>
              </a:rPr>
              <a:t>CRIANÇAS E ESTADO CIVIL</a:t>
            </a:r>
            <a:endParaRPr sz="3080">
              <a:solidFill>
                <a:srgbClr val="F3F3F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0" name="Google Shape;100;p18"/>
          <p:cNvSpPr txBox="1"/>
          <p:nvPr>
            <p:ph idx="1" type="subTitle"/>
          </p:nvPr>
        </p:nvSpPr>
        <p:spPr>
          <a:xfrm>
            <a:off x="692925" y="3738125"/>
            <a:ext cx="7758300" cy="6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3F3F3"/>
                </a:solidFill>
              </a:rPr>
              <a:t>A maioria dos clientes têm crianças em casa, e, são casadas ou com união estável. Mais de </a:t>
            </a:r>
            <a:r>
              <a:rPr b="1" lang="pt-BR" sz="1600">
                <a:solidFill>
                  <a:srgbClr val="F3F3F3"/>
                </a:solidFill>
              </a:rPr>
              <a:t>70%</a:t>
            </a:r>
            <a:r>
              <a:rPr lang="pt-BR" sz="1600">
                <a:solidFill>
                  <a:srgbClr val="F3F3F3"/>
                </a:solidFill>
              </a:rPr>
              <a:t> têm, ao menos, 1 filho; Mais de </a:t>
            </a:r>
            <a:r>
              <a:rPr b="1" lang="pt-BR" sz="1600">
                <a:solidFill>
                  <a:srgbClr val="F3F3F3"/>
                </a:solidFill>
              </a:rPr>
              <a:t>60%</a:t>
            </a:r>
            <a:r>
              <a:rPr lang="pt-BR" sz="1600">
                <a:solidFill>
                  <a:srgbClr val="F3F3F3"/>
                </a:solidFill>
              </a:rPr>
              <a:t> está casado ou em uma união estável. Sendo que mais de </a:t>
            </a:r>
            <a:r>
              <a:rPr b="1" lang="pt-BR" sz="1600">
                <a:solidFill>
                  <a:srgbClr val="F3F3F3"/>
                </a:solidFill>
              </a:rPr>
              <a:t>70%</a:t>
            </a:r>
            <a:r>
              <a:rPr lang="pt-BR" sz="1600">
                <a:solidFill>
                  <a:srgbClr val="F3F3F3"/>
                </a:solidFill>
              </a:rPr>
              <a:t> estão ou já estiveram casados ou uniões estáveis em algum momento de suas vidas.</a:t>
            </a:r>
            <a:endParaRPr sz="1600">
              <a:solidFill>
                <a:srgbClr val="F3F3F3"/>
              </a:solidFill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11617750" y="2239900"/>
            <a:ext cx="2430000" cy="23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2" name="Google Shape;102;p18"/>
          <p:cNvCxnSpPr/>
          <p:nvPr/>
        </p:nvCxnSpPr>
        <p:spPr>
          <a:xfrm>
            <a:off x="692850" y="1024988"/>
            <a:ext cx="77583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3" name="Google Shape;103;p18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013" y="1382488"/>
            <a:ext cx="3596276" cy="222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 title="Gráfico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4250" y="1382511"/>
            <a:ext cx="3596276" cy="2229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ctrTitle"/>
          </p:nvPr>
        </p:nvSpPr>
        <p:spPr>
          <a:xfrm>
            <a:off x="692850" y="313350"/>
            <a:ext cx="4319400" cy="68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80">
                <a:solidFill>
                  <a:srgbClr val="F3F3F3"/>
                </a:solidFill>
                <a:latin typeface="Impact"/>
                <a:ea typeface="Impact"/>
                <a:cs typeface="Impact"/>
                <a:sym typeface="Impact"/>
              </a:rPr>
              <a:t>O PERFIL GERAL DO CLIENTE</a:t>
            </a:r>
            <a:endParaRPr sz="3080">
              <a:solidFill>
                <a:srgbClr val="F3F3F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0" name="Google Shape;110;p19"/>
          <p:cNvSpPr txBox="1"/>
          <p:nvPr>
            <p:ph idx="1" type="subTitle"/>
          </p:nvPr>
        </p:nvSpPr>
        <p:spPr>
          <a:xfrm>
            <a:off x="661200" y="1195150"/>
            <a:ext cx="7821600" cy="3568500"/>
          </a:xfrm>
          <a:prstGeom prst="rect">
            <a:avLst/>
          </a:prstGeom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Char char="●"/>
            </a:pPr>
            <a:r>
              <a:rPr lang="pt-BR" sz="1600">
                <a:solidFill>
                  <a:srgbClr val="F3F3F3"/>
                </a:solidFill>
              </a:rPr>
              <a:t>Faixa etária: Adultos e Idosos</a:t>
            </a:r>
            <a:endParaRPr sz="1600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3F3F3"/>
                </a:solidFill>
              </a:rPr>
              <a:t>1.673</a:t>
            </a:r>
            <a:r>
              <a:rPr lang="pt-BR" sz="1600">
                <a:solidFill>
                  <a:srgbClr val="F3F3F3"/>
                </a:solidFill>
              </a:rPr>
              <a:t> dos cadastrados têm entre 40-69 anos, o grupo de idade corresponde a mais de </a:t>
            </a:r>
            <a:r>
              <a:rPr b="1" lang="pt-BR" sz="1600">
                <a:solidFill>
                  <a:srgbClr val="F3F3F3"/>
                </a:solidFill>
              </a:rPr>
              <a:t>70%</a:t>
            </a:r>
            <a:r>
              <a:rPr lang="pt-BR" sz="1600">
                <a:solidFill>
                  <a:srgbClr val="F3F3F3"/>
                </a:solidFill>
              </a:rPr>
              <a:t> dos clientes. Dentro da faixa a </a:t>
            </a:r>
            <a:r>
              <a:rPr b="1" lang="pt-BR" sz="1600">
                <a:solidFill>
                  <a:srgbClr val="F3F3F3"/>
                </a:solidFill>
              </a:rPr>
              <a:t>maioria têm entre 50-59 anos</a:t>
            </a:r>
            <a:r>
              <a:rPr lang="pt-BR" sz="1600">
                <a:solidFill>
                  <a:srgbClr val="F3F3F3"/>
                </a:solidFill>
              </a:rPr>
              <a:t>.</a:t>
            </a:r>
            <a:endParaRPr sz="1600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3F3F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Char char="●"/>
            </a:pPr>
            <a:r>
              <a:rPr lang="pt-BR" sz="1600">
                <a:solidFill>
                  <a:srgbClr val="F3F3F3"/>
                </a:solidFill>
              </a:rPr>
              <a:t>Nível de escolaridade: Ensino Superior</a:t>
            </a:r>
            <a:endParaRPr sz="1600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3F3F3"/>
                </a:solidFill>
              </a:rPr>
              <a:t>51% </a:t>
            </a:r>
            <a:r>
              <a:rPr lang="pt-BR" sz="1600">
                <a:solidFill>
                  <a:srgbClr val="F3F3F3"/>
                </a:solidFill>
              </a:rPr>
              <a:t>têm pelo menos a graduação, contando com os pós-graduados, que são </a:t>
            </a:r>
            <a:r>
              <a:rPr b="1" lang="pt-BR" sz="1600">
                <a:solidFill>
                  <a:srgbClr val="F3F3F3"/>
                </a:solidFill>
              </a:rPr>
              <a:t>40%</a:t>
            </a:r>
            <a:r>
              <a:rPr lang="pt-BR" sz="1600">
                <a:solidFill>
                  <a:srgbClr val="F3F3F3"/>
                </a:solidFill>
              </a:rPr>
              <a:t>, pe</a:t>
            </a:r>
            <a:r>
              <a:rPr lang="pt-BR" sz="1600">
                <a:solidFill>
                  <a:srgbClr val="F3F3F3"/>
                </a:solidFill>
              </a:rPr>
              <a:t>l</a:t>
            </a:r>
            <a:r>
              <a:rPr lang="pt-BR" sz="1600">
                <a:solidFill>
                  <a:srgbClr val="F3F3F3"/>
                </a:solidFill>
              </a:rPr>
              <a:t>o menos </a:t>
            </a:r>
            <a:r>
              <a:rPr b="1" lang="pt-BR" sz="1600">
                <a:solidFill>
                  <a:srgbClr val="F3F3F3"/>
                </a:solidFill>
              </a:rPr>
              <a:t>91</a:t>
            </a:r>
            <a:r>
              <a:rPr b="1" lang="pt-BR" sz="1600">
                <a:solidFill>
                  <a:srgbClr val="F3F3F3"/>
                </a:solidFill>
              </a:rPr>
              <a:t>%</a:t>
            </a:r>
            <a:r>
              <a:rPr lang="pt-BR" sz="1600">
                <a:solidFill>
                  <a:srgbClr val="F3F3F3"/>
                </a:solidFill>
              </a:rPr>
              <a:t> t</a:t>
            </a:r>
            <a:r>
              <a:rPr lang="pt-BR" sz="1600">
                <a:solidFill>
                  <a:srgbClr val="F3F3F3"/>
                </a:solidFill>
              </a:rPr>
              <a:t>êm nível de ensino superior.</a:t>
            </a:r>
            <a:endParaRPr sz="1600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3F3F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Char char="●"/>
            </a:pPr>
            <a:r>
              <a:rPr lang="pt-BR" sz="1600">
                <a:solidFill>
                  <a:srgbClr val="F3F3F3"/>
                </a:solidFill>
              </a:rPr>
              <a:t>Estado civil: Casados ou em união estável</a:t>
            </a:r>
            <a:endParaRPr sz="1600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3F3F3"/>
                </a:solidFill>
              </a:rPr>
              <a:t>Mais de </a:t>
            </a:r>
            <a:r>
              <a:rPr b="1" lang="pt-BR" sz="1600">
                <a:solidFill>
                  <a:srgbClr val="F3F3F3"/>
                </a:solidFill>
              </a:rPr>
              <a:t>60%</a:t>
            </a:r>
            <a:r>
              <a:rPr lang="pt-BR" sz="1600">
                <a:solidFill>
                  <a:srgbClr val="F3F3F3"/>
                </a:solidFill>
              </a:rPr>
              <a:t> está casado ou em uma união estável. Sendo que mais de </a:t>
            </a:r>
            <a:r>
              <a:rPr b="1" lang="pt-BR" sz="1600">
                <a:solidFill>
                  <a:srgbClr val="F3F3F3"/>
                </a:solidFill>
              </a:rPr>
              <a:t>70%</a:t>
            </a:r>
            <a:r>
              <a:rPr lang="pt-BR" sz="1600">
                <a:solidFill>
                  <a:srgbClr val="F3F3F3"/>
                </a:solidFill>
              </a:rPr>
              <a:t> estão ou já estiveram casados ou uniões estáveis em algum momento de suas vidas.</a:t>
            </a:r>
            <a:endParaRPr sz="1600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3F3F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Char char="●"/>
            </a:pPr>
            <a:r>
              <a:rPr lang="pt-BR" sz="1600">
                <a:solidFill>
                  <a:srgbClr val="F3F3F3"/>
                </a:solidFill>
              </a:rPr>
              <a:t>Pais ou responsáveis por crianças</a:t>
            </a:r>
            <a:endParaRPr sz="1600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3F3F3"/>
                </a:solidFill>
              </a:rPr>
              <a:t>Mais de </a:t>
            </a:r>
            <a:r>
              <a:rPr b="1" lang="pt-BR" sz="1600">
                <a:solidFill>
                  <a:srgbClr val="F3F3F3"/>
                </a:solidFill>
              </a:rPr>
              <a:t>70%</a:t>
            </a:r>
            <a:r>
              <a:rPr lang="pt-BR" sz="1600">
                <a:solidFill>
                  <a:srgbClr val="F3F3F3"/>
                </a:solidFill>
              </a:rPr>
              <a:t> têm, ao menos, 1 criança em casa.</a:t>
            </a:r>
            <a:endParaRPr sz="1600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1" name="Google Shape;111;p19"/>
          <p:cNvSpPr txBox="1"/>
          <p:nvPr/>
        </p:nvSpPr>
        <p:spPr>
          <a:xfrm>
            <a:off x="11617750" y="2239900"/>
            <a:ext cx="2430000" cy="23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0750" y="3008775"/>
            <a:ext cx="5340274" cy="3003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113;p19"/>
          <p:cNvCxnSpPr/>
          <p:nvPr/>
        </p:nvCxnSpPr>
        <p:spPr>
          <a:xfrm>
            <a:off x="692850" y="996150"/>
            <a:ext cx="77583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4" name="Google Shape;114;p19"/>
          <p:cNvPicPr preferRelativeResize="0"/>
          <p:nvPr/>
        </p:nvPicPr>
        <p:blipFill rotWithShape="1">
          <a:blip r:embed="rId5">
            <a:alphaModFix/>
          </a:blip>
          <a:srcRect b="0" l="34542" r="0" t="0"/>
          <a:stretch/>
        </p:blipFill>
        <p:spPr>
          <a:xfrm>
            <a:off x="7462071" y="-896275"/>
            <a:ext cx="3943752" cy="33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76600" y="-752500"/>
            <a:ext cx="5319821" cy="299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ctrTitle"/>
          </p:nvPr>
        </p:nvSpPr>
        <p:spPr>
          <a:xfrm>
            <a:off x="2234400" y="1298100"/>
            <a:ext cx="4675200" cy="84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80">
                <a:solidFill>
                  <a:srgbClr val="F3F3F3"/>
                </a:solidFill>
                <a:latin typeface="Impact"/>
                <a:ea typeface="Impact"/>
                <a:cs typeface="Impact"/>
                <a:sym typeface="Impact"/>
              </a:rPr>
              <a:t>CLASSIFICAÇÃO RFM</a:t>
            </a:r>
            <a:endParaRPr sz="3980">
              <a:solidFill>
                <a:srgbClr val="F3F3F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1" name="Google Shape;121;p20"/>
          <p:cNvSpPr txBox="1"/>
          <p:nvPr>
            <p:ph idx="1" type="subTitle"/>
          </p:nvPr>
        </p:nvSpPr>
        <p:spPr>
          <a:xfrm>
            <a:off x="892500" y="2571750"/>
            <a:ext cx="7359000" cy="6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3F3F3"/>
                </a:solidFill>
              </a:rPr>
              <a:t>Nesta classificação, observamos o quão frequente o cliente é, o quão recente, e quanto gastou. E a partir disso são distribuídos em grupos, e classificamos.</a:t>
            </a:r>
            <a:endParaRPr sz="1600">
              <a:solidFill>
                <a:srgbClr val="F3F3F3"/>
              </a:solidFill>
            </a:endParaRPr>
          </a:p>
        </p:txBody>
      </p:sp>
      <p:cxnSp>
        <p:nvCxnSpPr>
          <p:cNvPr id="122" name="Google Shape;122;p20"/>
          <p:cNvCxnSpPr/>
          <p:nvPr/>
        </p:nvCxnSpPr>
        <p:spPr>
          <a:xfrm>
            <a:off x="692850" y="2239900"/>
            <a:ext cx="77583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20"/>
          <p:cNvSpPr txBox="1"/>
          <p:nvPr/>
        </p:nvSpPr>
        <p:spPr>
          <a:xfrm>
            <a:off x="11617750" y="2239900"/>
            <a:ext cx="2430000" cy="23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ctrTitle"/>
          </p:nvPr>
        </p:nvSpPr>
        <p:spPr>
          <a:xfrm>
            <a:off x="762000" y="354925"/>
            <a:ext cx="7620000" cy="62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80">
                <a:solidFill>
                  <a:srgbClr val="F3F3F3"/>
                </a:solidFill>
                <a:latin typeface="Impact"/>
                <a:ea typeface="Impact"/>
                <a:cs typeface="Impact"/>
                <a:sym typeface="Impact"/>
              </a:rPr>
              <a:t>CLASSIFICAÇÃO RFM</a:t>
            </a:r>
            <a:endParaRPr sz="3980">
              <a:solidFill>
                <a:srgbClr val="F3F3F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9" name="Google Shape;129;p21"/>
          <p:cNvSpPr txBox="1"/>
          <p:nvPr>
            <p:ph idx="1" type="subTitle"/>
          </p:nvPr>
        </p:nvSpPr>
        <p:spPr>
          <a:xfrm>
            <a:off x="892500" y="6533450"/>
            <a:ext cx="7359000" cy="6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0" name="Google Shape;130;p21"/>
          <p:cNvSpPr txBox="1"/>
          <p:nvPr/>
        </p:nvSpPr>
        <p:spPr>
          <a:xfrm>
            <a:off x="11617750" y="2239900"/>
            <a:ext cx="2430000" cy="23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ctrTitle"/>
          </p:nvPr>
        </p:nvSpPr>
        <p:spPr>
          <a:xfrm>
            <a:off x="692850" y="119575"/>
            <a:ext cx="7477200" cy="84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80">
                <a:solidFill>
                  <a:srgbClr val="F3F3F3"/>
                </a:solidFill>
                <a:latin typeface="Impact"/>
                <a:ea typeface="Impact"/>
                <a:cs typeface="Impact"/>
                <a:sym typeface="Impact"/>
              </a:rPr>
              <a:t>PORCENTAGEM POR CLASSIFICAÇÃO</a:t>
            </a:r>
            <a:endParaRPr sz="3980">
              <a:solidFill>
                <a:srgbClr val="F3F3F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6" name="Google Shape;136;p22"/>
          <p:cNvSpPr txBox="1"/>
          <p:nvPr>
            <p:ph idx="1" type="subTitle"/>
          </p:nvPr>
        </p:nvSpPr>
        <p:spPr>
          <a:xfrm>
            <a:off x="567825" y="3725675"/>
            <a:ext cx="7841700" cy="6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3F3F3"/>
                </a:solidFill>
              </a:rPr>
              <a:t>Em maioria, os clientes ficaram classificados em </a:t>
            </a:r>
            <a:r>
              <a:rPr b="1" lang="pt-BR" sz="1600">
                <a:solidFill>
                  <a:srgbClr val="F3F3F3"/>
                </a:solidFill>
              </a:rPr>
              <a:t>clientes fiéis</a:t>
            </a:r>
            <a:r>
              <a:rPr lang="pt-BR" sz="1600">
                <a:solidFill>
                  <a:srgbClr val="F3F3F3"/>
                </a:solidFill>
              </a:rPr>
              <a:t>, correspondendo a </a:t>
            </a:r>
            <a:r>
              <a:rPr b="1" lang="pt-BR" sz="1600">
                <a:solidFill>
                  <a:srgbClr val="F3F3F3"/>
                </a:solidFill>
              </a:rPr>
              <a:t>760</a:t>
            </a:r>
            <a:r>
              <a:rPr lang="pt-BR" sz="1600">
                <a:solidFill>
                  <a:srgbClr val="F3F3F3"/>
                </a:solidFill>
              </a:rPr>
              <a:t> dos </a:t>
            </a:r>
            <a:r>
              <a:rPr b="1" lang="pt-BR" sz="1600">
                <a:solidFill>
                  <a:srgbClr val="F3F3F3"/>
                </a:solidFill>
              </a:rPr>
              <a:t>2.203</a:t>
            </a:r>
            <a:r>
              <a:rPr lang="pt-BR" sz="1600">
                <a:solidFill>
                  <a:srgbClr val="F3F3F3"/>
                </a:solidFill>
              </a:rPr>
              <a:t> analisados. </a:t>
            </a:r>
            <a:r>
              <a:rPr b="1" lang="pt-BR" sz="1600">
                <a:solidFill>
                  <a:srgbClr val="F3F3F3"/>
                </a:solidFill>
              </a:rPr>
              <a:t>19%</a:t>
            </a:r>
            <a:r>
              <a:rPr lang="pt-BR" sz="1600">
                <a:solidFill>
                  <a:srgbClr val="F3F3F3"/>
                </a:solidFill>
              </a:rPr>
              <a:t> são </a:t>
            </a:r>
            <a:r>
              <a:rPr b="1" lang="pt-BR" sz="1600">
                <a:solidFill>
                  <a:srgbClr val="F3F3F3"/>
                </a:solidFill>
              </a:rPr>
              <a:t>campeõe</a:t>
            </a:r>
            <a:r>
              <a:rPr lang="pt-BR" sz="1600">
                <a:solidFill>
                  <a:srgbClr val="F3F3F3"/>
                </a:solidFill>
              </a:rPr>
              <a:t>s, há uma porcentagem alta de clientes </a:t>
            </a:r>
            <a:r>
              <a:rPr b="1" lang="pt-BR" sz="1600">
                <a:solidFill>
                  <a:srgbClr val="F3F3F3"/>
                </a:solidFill>
              </a:rPr>
              <a:t>hibernando</a:t>
            </a:r>
            <a:r>
              <a:rPr lang="pt-BR" sz="1600">
                <a:solidFill>
                  <a:srgbClr val="F3F3F3"/>
                </a:solidFill>
              </a:rPr>
              <a:t> e em </a:t>
            </a:r>
            <a:r>
              <a:rPr b="1" lang="pt-BR" sz="1600">
                <a:solidFill>
                  <a:srgbClr val="F3F3F3"/>
                </a:solidFill>
              </a:rPr>
              <a:t>risco</a:t>
            </a:r>
            <a:r>
              <a:rPr lang="pt-BR" sz="1600">
                <a:solidFill>
                  <a:srgbClr val="F3F3F3"/>
                </a:solidFill>
              </a:rPr>
              <a:t>, conjuntamente, chegam a  </a:t>
            </a:r>
            <a:r>
              <a:rPr b="1" lang="pt-BR" sz="1600">
                <a:solidFill>
                  <a:srgbClr val="F3F3F3"/>
                </a:solidFill>
              </a:rPr>
              <a:t>19%</a:t>
            </a:r>
            <a:r>
              <a:rPr lang="pt-BR" sz="1600">
                <a:solidFill>
                  <a:srgbClr val="F3F3F3"/>
                </a:solidFill>
              </a:rPr>
              <a:t>.</a:t>
            </a:r>
            <a:endParaRPr sz="1600">
              <a:solidFill>
                <a:srgbClr val="F3F3F3"/>
              </a:solidFill>
            </a:endParaRPr>
          </a:p>
        </p:txBody>
      </p:sp>
      <p:cxnSp>
        <p:nvCxnSpPr>
          <p:cNvPr id="137" name="Google Shape;137;p22"/>
          <p:cNvCxnSpPr/>
          <p:nvPr/>
        </p:nvCxnSpPr>
        <p:spPr>
          <a:xfrm>
            <a:off x="609525" y="969175"/>
            <a:ext cx="77583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22"/>
          <p:cNvSpPr txBox="1"/>
          <p:nvPr/>
        </p:nvSpPr>
        <p:spPr>
          <a:xfrm>
            <a:off x="11617750" y="2239900"/>
            <a:ext cx="2430000" cy="23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9" name="Google Shape;139;p22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551" y="1423249"/>
            <a:ext cx="9619223" cy="202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ctrTitle"/>
          </p:nvPr>
        </p:nvSpPr>
        <p:spPr>
          <a:xfrm>
            <a:off x="692850" y="119575"/>
            <a:ext cx="7477200" cy="84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80">
                <a:solidFill>
                  <a:srgbClr val="F3F3F3"/>
                </a:solidFill>
                <a:latin typeface="Impact"/>
                <a:ea typeface="Impact"/>
                <a:cs typeface="Impact"/>
                <a:sym typeface="Impact"/>
              </a:rPr>
              <a:t>SOBRE AS CLASSIFICAÇÕES</a:t>
            </a:r>
            <a:endParaRPr sz="3980">
              <a:solidFill>
                <a:srgbClr val="F3F3F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5" name="Google Shape;145;p23"/>
          <p:cNvSpPr txBox="1"/>
          <p:nvPr>
            <p:ph idx="1" type="subTitle"/>
          </p:nvPr>
        </p:nvSpPr>
        <p:spPr>
          <a:xfrm>
            <a:off x="1044025" y="1027400"/>
            <a:ext cx="7425600" cy="38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</a:pPr>
            <a:r>
              <a:rPr lang="pt-BR" sz="1400">
                <a:solidFill>
                  <a:srgbClr val="F3F3F3"/>
                </a:solidFill>
              </a:rPr>
              <a:t>Clientes Fiéis: </a:t>
            </a:r>
            <a:r>
              <a:rPr b="1" lang="pt-BR" sz="1400">
                <a:solidFill>
                  <a:srgbClr val="F3F3F3"/>
                </a:solidFill>
              </a:rPr>
              <a:t>34%</a:t>
            </a:r>
            <a:endParaRPr b="1" sz="1400">
              <a:solidFill>
                <a:srgbClr val="F3F3F3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F3F3F3"/>
                </a:solidFill>
              </a:rPr>
              <a:t>A maioria dos clientes fazem compras altas e frequentemente, mas poderiam ter uma recência melhor; Que tal um programa de fidelidade com benefícios? Para que venham com mais frequência, comprando novos itens, e lembrem sempre de pedir na sua loja. Para que se tornem campeões.</a:t>
            </a:r>
            <a:endParaRPr sz="1400">
              <a:solidFill>
                <a:srgbClr val="F3F3F3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</a:pPr>
            <a:r>
              <a:rPr lang="pt-BR" sz="1400">
                <a:solidFill>
                  <a:srgbClr val="F3F3F3"/>
                </a:solidFill>
              </a:rPr>
              <a:t>Campeões: </a:t>
            </a:r>
            <a:r>
              <a:rPr b="1" lang="pt-BR" sz="1400">
                <a:solidFill>
                  <a:srgbClr val="F3F3F3"/>
                </a:solidFill>
              </a:rPr>
              <a:t>19% </a:t>
            </a:r>
            <a:endParaRPr b="1" sz="1400">
              <a:solidFill>
                <a:srgbClr val="F3F3F3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F3F3F3"/>
                </a:solidFill>
              </a:rPr>
              <a:t>Têm alta frequência, recência e monetário. É importante mantê-los com esses scores. Que tal brindes e promoções exclusivas nos itens preferidos deles? Que são os </a:t>
            </a:r>
            <a:r>
              <a:rPr b="1" lang="pt-BR" sz="1400">
                <a:solidFill>
                  <a:srgbClr val="F3F3F3"/>
                </a:solidFill>
              </a:rPr>
              <a:t>vinhos</a:t>
            </a:r>
            <a:r>
              <a:rPr lang="pt-BR" sz="1400">
                <a:solidFill>
                  <a:srgbClr val="F3F3F3"/>
                </a:solidFill>
              </a:rPr>
              <a:t>, que já chegaram a consumir um total de </a:t>
            </a:r>
            <a:r>
              <a:rPr b="1" lang="pt-BR" sz="1400">
                <a:solidFill>
                  <a:srgbClr val="F3F3F3"/>
                </a:solidFill>
              </a:rPr>
              <a:t>$332.266,00</a:t>
            </a:r>
            <a:r>
              <a:rPr lang="pt-BR" sz="1400">
                <a:solidFill>
                  <a:srgbClr val="F3F3F3"/>
                </a:solidFill>
              </a:rPr>
              <a:t>.</a:t>
            </a:r>
            <a:endParaRPr sz="1400">
              <a:solidFill>
                <a:srgbClr val="F3F3F3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</a:pPr>
            <a:r>
              <a:rPr lang="pt-BR" sz="1400">
                <a:solidFill>
                  <a:srgbClr val="F3F3F3"/>
                </a:solidFill>
              </a:rPr>
              <a:t>Lealdade Potencial: </a:t>
            </a:r>
            <a:r>
              <a:rPr b="1" lang="pt-BR" sz="1400">
                <a:solidFill>
                  <a:srgbClr val="F3F3F3"/>
                </a:solidFill>
              </a:rPr>
              <a:t>18%</a:t>
            </a:r>
            <a:endParaRPr b="1" sz="1400">
              <a:solidFill>
                <a:srgbClr val="F3F3F3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F3F3F3"/>
                </a:solidFill>
              </a:rPr>
              <a:t>Compraram bem recentemente, mas não vêm com frequência e não gastam muito. Que tal uma campanha focada em preços, acompanhados de um programa de fidelidade?</a:t>
            </a:r>
            <a:endParaRPr sz="1400">
              <a:solidFill>
                <a:srgbClr val="F3F3F3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</a:pPr>
            <a:r>
              <a:rPr lang="pt-BR" sz="1400">
                <a:solidFill>
                  <a:srgbClr val="F3F3F3"/>
                </a:solidFill>
              </a:rPr>
              <a:t>Em Risco: </a:t>
            </a:r>
            <a:r>
              <a:rPr b="1" lang="pt-BR" sz="1400">
                <a:solidFill>
                  <a:srgbClr val="F3F3F3"/>
                </a:solidFill>
              </a:rPr>
              <a:t>10%</a:t>
            </a:r>
            <a:endParaRPr b="1" sz="1400">
              <a:solidFill>
                <a:srgbClr val="F3F3F3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F3F3F3"/>
                </a:solidFill>
              </a:rPr>
              <a:t>Em algum momento já fizeram compras altas e com frequência. Mas já não vêm faz um bom tempo, o desafio é trazê-los de volta. E se mandarmos alguma pesquisa de satisfação bonificada com promoções ou brindes, para entender o porque não frequentam mais a loja?</a:t>
            </a:r>
            <a:endParaRPr sz="1400">
              <a:solidFill>
                <a:srgbClr val="F3F3F3"/>
              </a:solidFill>
            </a:endParaRPr>
          </a:p>
        </p:txBody>
      </p:sp>
      <p:cxnSp>
        <p:nvCxnSpPr>
          <p:cNvPr id="146" name="Google Shape;146;p23"/>
          <p:cNvCxnSpPr/>
          <p:nvPr/>
        </p:nvCxnSpPr>
        <p:spPr>
          <a:xfrm>
            <a:off x="609525" y="969175"/>
            <a:ext cx="77583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23"/>
          <p:cNvSpPr txBox="1"/>
          <p:nvPr/>
        </p:nvSpPr>
        <p:spPr>
          <a:xfrm>
            <a:off x="11617750" y="2239900"/>
            <a:ext cx="2430000" cy="23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8" name="Google Shape;148;p23"/>
          <p:cNvPicPr preferRelativeResize="0"/>
          <p:nvPr/>
        </p:nvPicPr>
        <p:blipFill rotWithShape="1">
          <a:blip r:embed="rId4">
            <a:alphaModFix/>
          </a:blip>
          <a:srcRect b="0" l="0" r="37861" t="0"/>
          <a:stretch/>
        </p:blipFill>
        <p:spPr>
          <a:xfrm>
            <a:off x="-2361875" y="2571750"/>
            <a:ext cx="3560448" cy="322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 rotWithShape="1">
          <a:blip r:embed="rId5">
            <a:alphaModFix/>
          </a:blip>
          <a:srcRect b="0" l="0" r="38541" t="0"/>
          <a:stretch/>
        </p:blipFill>
        <p:spPr>
          <a:xfrm>
            <a:off x="-2163978" y="669725"/>
            <a:ext cx="3362549" cy="307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3"/>
          <p:cNvPicPr preferRelativeResize="0"/>
          <p:nvPr/>
        </p:nvPicPr>
        <p:blipFill rotWithShape="1">
          <a:blip r:embed="rId6">
            <a:alphaModFix/>
          </a:blip>
          <a:srcRect b="0" l="0" r="38230" t="27531"/>
          <a:stretch/>
        </p:blipFill>
        <p:spPr>
          <a:xfrm>
            <a:off x="-1795025" y="2525700"/>
            <a:ext cx="2839051" cy="187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3"/>
          <p:cNvPicPr preferRelativeResize="0"/>
          <p:nvPr/>
        </p:nvPicPr>
        <p:blipFill rotWithShape="1">
          <a:blip r:embed="rId7">
            <a:alphaModFix/>
          </a:blip>
          <a:srcRect b="22336" l="44194" r="40356" t="0"/>
          <a:stretch/>
        </p:blipFill>
        <p:spPr>
          <a:xfrm>
            <a:off x="246075" y="-158925"/>
            <a:ext cx="797952" cy="225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ctrTitle"/>
          </p:nvPr>
        </p:nvSpPr>
        <p:spPr>
          <a:xfrm>
            <a:off x="726875" y="119550"/>
            <a:ext cx="7477200" cy="84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80">
                <a:solidFill>
                  <a:srgbClr val="F3F3F3"/>
                </a:solidFill>
                <a:latin typeface="Impact"/>
                <a:ea typeface="Impact"/>
                <a:cs typeface="Impact"/>
                <a:sym typeface="Impact"/>
              </a:rPr>
              <a:t>UM POUCO MAIS SOBRE O CONSUMO</a:t>
            </a:r>
            <a:endParaRPr sz="3980">
              <a:solidFill>
                <a:srgbClr val="F3F3F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7" name="Google Shape;157;p24"/>
          <p:cNvSpPr txBox="1"/>
          <p:nvPr>
            <p:ph idx="1" type="subTitle"/>
          </p:nvPr>
        </p:nvSpPr>
        <p:spPr>
          <a:xfrm>
            <a:off x="2891313" y="-831475"/>
            <a:ext cx="7359000" cy="6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158" name="Google Shape;158;p24"/>
          <p:cNvCxnSpPr/>
          <p:nvPr/>
        </p:nvCxnSpPr>
        <p:spPr>
          <a:xfrm>
            <a:off x="726875" y="871000"/>
            <a:ext cx="77583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4"/>
          <p:cNvSpPr txBox="1"/>
          <p:nvPr/>
        </p:nvSpPr>
        <p:spPr>
          <a:xfrm>
            <a:off x="11617750" y="2239900"/>
            <a:ext cx="2430000" cy="23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0" name="Google Shape;160;p24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6600" y="2934213"/>
            <a:ext cx="3263475" cy="2128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 title="Gráfico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825" y="3081487"/>
            <a:ext cx="5724841" cy="2118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4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825" y="969151"/>
            <a:ext cx="4508649" cy="2014173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3" name="Google Shape;163;p24" title="Gráfico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64325" y="969163"/>
            <a:ext cx="4479674" cy="201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ctrTitle"/>
          </p:nvPr>
        </p:nvSpPr>
        <p:spPr>
          <a:xfrm>
            <a:off x="692850" y="11775"/>
            <a:ext cx="2774100" cy="84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80">
                <a:solidFill>
                  <a:srgbClr val="F3F3F3"/>
                </a:solidFill>
                <a:latin typeface="Impact"/>
                <a:ea typeface="Impact"/>
                <a:cs typeface="Impact"/>
                <a:sym typeface="Impact"/>
              </a:rPr>
              <a:t>CONCLUSÕES</a:t>
            </a:r>
            <a:endParaRPr sz="3980">
              <a:solidFill>
                <a:srgbClr val="F3F3F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9" name="Google Shape;169;p25"/>
          <p:cNvSpPr txBox="1"/>
          <p:nvPr>
            <p:ph idx="1" type="subTitle"/>
          </p:nvPr>
        </p:nvSpPr>
        <p:spPr>
          <a:xfrm>
            <a:off x="692850" y="1138050"/>
            <a:ext cx="7359000" cy="25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Char char="●"/>
            </a:pPr>
            <a:r>
              <a:rPr lang="pt-BR" sz="1600">
                <a:solidFill>
                  <a:srgbClr val="F3F3F3"/>
                </a:solidFill>
              </a:rPr>
              <a:t>Os clientes em geral são adultos ou idosos, entre seus 40-69 anos, com nível superior, casados ou em união estável, e têm, pelo menos, 1 criança em casa.</a:t>
            </a:r>
            <a:endParaRPr sz="1600">
              <a:solidFill>
                <a:srgbClr val="F3F3F3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Char char="●"/>
            </a:pPr>
            <a:r>
              <a:rPr lang="pt-BR" sz="1600">
                <a:solidFill>
                  <a:srgbClr val="F3F3F3"/>
                </a:solidFill>
              </a:rPr>
              <a:t>A maioria são clientes fiéis </a:t>
            </a:r>
            <a:r>
              <a:rPr b="1" lang="pt-BR" sz="1600">
                <a:solidFill>
                  <a:srgbClr val="F3F3F3"/>
                </a:solidFill>
              </a:rPr>
              <a:t>34% </a:t>
            </a:r>
            <a:r>
              <a:rPr lang="pt-BR" sz="1600">
                <a:solidFill>
                  <a:srgbClr val="F3F3F3"/>
                </a:solidFill>
              </a:rPr>
              <a:t>mas apesar de terem boa recência em comparado com os demais, não é a ideal, e ainda é preciso torná-los campeões, aumentando sua frequência e gasto monetário.</a:t>
            </a:r>
            <a:endParaRPr sz="1600">
              <a:solidFill>
                <a:srgbClr val="F3F3F3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Char char="●"/>
            </a:pPr>
            <a:r>
              <a:rPr lang="pt-BR" sz="1600">
                <a:solidFill>
                  <a:srgbClr val="F3F3F3"/>
                </a:solidFill>
              </a:rPr>
              <a:t>O item mais consumido e muito consumido, é o vinho. Seguido pela carne.</a:t>
            </a:r>
            <a:endParaRPr sz="1600">
              <a:solidFill>
                <a:srgbClr val="F3F3F3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Char char="●"/>
            </a:pPr>
            <a:r>
              <a:rPr lang="pt-BR" sz="1600">
                <a:solidFill>
                  <a:srgbClr val="F3F3F3"/>
                </a:solidFill>
              </a:rPr>
              <a:t>Um pouco mais de 50% ainda prefere fazer compras na loja física.</a:t>
            </a:r>
            <a:endParaRPr sz="1600">
              <a:solidFill>
                <a:srgbClr val="F3F3F3"/>
              </a:solidFill>
            </a:endParaRPr>
          </a:p>
        </p:txBody>
      </p:sp>
      <p:cxnSp>
        <p:nvCxnSpPr>
          <p:cNvPr id="170" name="Google Shape;170;p25"/>
          <p:cNvCxnSpPr/>
          <p:nvPr/>
        </p:nvCxnSpPr>
        <p:spPr>
          <a:xfrm>
            <a:off x="692850" y="861375"/>
            <a:ext cx="77583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5"/>
          <p:cNvSpPr txBox="1"/>
          <p:nvPr/>
        </p:nvSpPr>
        <p:spPr>
          <a:xfrm>
            <a:off x="11617750" y="2239900"/>
            <a:ext cx="2430000" cy="23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